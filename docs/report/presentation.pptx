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65288" y="1619203"/>
            <a:ext cx="5613425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A365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学生成绩管理系统 结项汇报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765288" y="2471514"/>
            <a:ext cx="5613425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spc="2" kern="0" dirty="0">
                <a:solidFill>
                  <a:srgbClr val="3182C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信息系统实践课程项目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687" y="3296617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51718" y="3293046"/>
            <a:ext cx="289056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组员：lengye241、chenghlixue、utyyy-yyytu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176" y="3582367"/>
            <a:ext cx="125016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43629" y="3578796"/>
            <a:ext cx="145316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日期：2026年5月19日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16002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项目背景与目标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85750" y="1142414"/>
            <a:ext cx="4179094" cy="305395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核心目标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90684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0063" y="1562109"/>
            <a:ext cx="3964781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开发基于 Web 的学生成绩查询与管理系统，提升成绩查询效率与信息透明度。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139302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0063" y="2110727"/>
            <a:ext cx="3857625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管理员可统一管理课程、成绩与用户信息，大幅降低人工维护成本。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456473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0063" y="2427898"/>
            <a:ext cx="372903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面向课程实践场景，实现一个功能闭环、易于部署的轻量化系统。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4679156" y="1142414"/>
            <a:ext cx="4179094" cy="305395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技术栈选型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679156" y="1562109"/>
            <a:ext cx="4179094" cy="241458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8"/>
          <p:cNvSpPr/>
          <p:nvPr/>
        </p:nvSpPr>
        <p:spPr>
          <a:xfrm>
            <a:off x="4807744" y="1690697"/>
            <a:ext cx="285750" cy="28575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613" y="1776422"/>
            <a:ext cx="100013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07794" y="1751419"/>
            <a:ext cx="149873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Python Flask - 后端核心框架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4807744" y="2062172"/>
            <a:ext cx="285750" cy="28575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0613" y="2147897"/>
            <a:ext cx="100013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07794" y="2122894"/>
            <a:ext cx="168291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SQLAlchemy ORM - 数据库映射</a:t>
            </a:r>
            <a:endParaRPr lang="en-US" sz="800" dirty="0"/>
          </a:p>
        </p:txBody>
      </p:sp>
      <p:sp>
        <p:nvSpPr>
          <p:cNvPr id="20" name="Shape 12"/>
          <p:cNvSpPr/>
          <p:nvPr/>
        </p:nvSpPr>
        <p:spPr>
          <a:xfrm>
            <a:off x="4807744" y="2433647"/>
            <a:ext cx="285750" cy="28575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519372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07794" y="2494369"/>
            <a:ext cx="14986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SQLite - 轻量级关系型数据库</a:t>
            </a:r>
            <a:endParaRPr lang="en-US" sz="800" dirty="0"/>
          </a:p>
        </p:txBody>
      </p:sp>
      <p:sp>
        <p:nvSpPr>
          <p:cNvPr id="23" name="Shape 14"/>
          <p:cNvSpPr/>
          <p:nvPr/>
        </p:nvSpPr>
        <p:spPr>
          <a:xfrm>
            <a:off x="4807744" y="2805122"/>
            <a:ext cx="285750" cy="28575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9181" y="2890847"/>
            <a:ext cx="142875" cy="1143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07794" y="2865844"/>
            <a:ext cx="156219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HTML5 / CSS3 - 前端页面呈现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18288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团队分工清晰协作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85750" y="1071563"/>
            <a:ext cx="1171575" cy="358973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1071563"/>
            <a:ext cx="1171575" cy="35897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成员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457325" y="1071563"/>
            <a:ext cx="2028825" cy="358973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8" name="Text 5"/>
          <p:cNvSpPr/>
          <p:nvPr/>
        </p:nvSpPr>
        <p:spPr>
          <a:xfrm>
            <a:off x="1457325" y="1071563"/>
            <a:ext cx="2028825" cy="35897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主要职责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486150" y="1071563"/>
            <a:ext cx="5372100" cy="358973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0" name="Text 7"/>
          <p:cNvSpPr/>
          <p:nvPr/>
        </p:nvSpPr>
        <p:spPr>
          <a:xfrm>
            <a:off x="3486150" y="1071563"/>
            <a:ext cx="5372100" cy="35897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交付内容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85750" y="1430536"/>
            <a:ext cx="1171575" cy="5350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lengye241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57325" y="1430536"/>
            <a:ext cx="2028825" cy="5350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测试、文档编写、项目管理、用户模块代码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486150" y="1430536"/>
            <a:ext cx="5372100" cy="5350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测试用例与脚本、12份项目文档、会议与任务管理、注册/登录模块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5750" y="1965592"/>
            <a:ext cx="8572500" cy="35861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Text 12"/>
          <p:cNvSpPr/>
          <p:nvPr/>
        </p:nvSpPr>
        <p:spPr>
          <a:xfrm>
            <a:off x="285750" y="1965592"/>
            <a:ext cx="1171575" cy="3586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chenghlixue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457325" y="1965592"/>
            <a:ext cx="2028825" cy="3586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后端成绩模块开发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86150" y="1965592"/>
            <a:ext cx="5372100" cy="3586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成绩录入、修改、删除、查询接口与业务逻辑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85750" y="2324202"/>
            <a:ext cx="1171575" cy="3586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utyyy-yyytu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457325" y="2324202"/>
            <a:ext cx="2028825" cy="3586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前端页面开发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86150" y="2324202"/>
            <a:ext cx="5372100" cy="35861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登录注册页面、学生端与管理员端页面、交互样式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18288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技术架构简洁可靠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293019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0119" y="1257300"/>
            <a:ext cx="26789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采用 </a:t>
            </a:r>
            <a:r>
              <a:rPr lang="en-US" sz="900" b="1" dirty="0">
                <a:solidFill>
                  <a:srgbClr val="3182C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B/S 架构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，前后端不分离模式，利用 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Flask 模板引擎实现快速渲染。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875904"/>
            <a:ext cx="144661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6192" y="1840185"/>
            <a:ext cx="266283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严格的</a:t>
            </a:r>
            <a:r>
              <a:rPr lang="en-US" sz="900" b="1" dirty="0">
                <a:solidFill>
                  <a:srgbClr val="3182C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分层设计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：表现层、业务逻辑层、数据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访问层，确保代码高内聚低耦合。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458789"/>
            <a:ext cx="112514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34045" y="2423071"/>
            <a:ext cx="269498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 </a:t>
            </a:r>
            <a:r>
              <a:rPr lang="en-US" sz="900" b="1" dirty="0">
                <a:solidFill>
                  <a:srgbClr val="3182C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SQLAlchemy ORM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屏蔽底层 SQL 差异，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提升开发效率与安全性。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3914775" y="1000125"/>
            <a:ext cx="4800600" cy="37147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6"/>
          <p:cNvSpPr/>
          <p:nvPr/>
        </p:nvSpPr>
        <p:spPr>
          <a:xfrm>
            <a:off x="4872038" y="1285875"/>
            <a:ext cx="2886075" cy="457200"/>
          </a:xfrm>
          <a:prstGeom prst="rect">
            <a:avLst/>
          </a:prstGeom>
          <a:solidFill>
            <a:srgbClr val="3182CE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872038" y="1285875"/>
            <a:ext cx="2886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表现层 (HTML 模板 / CSS)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6307931" y="1821656"/>
            <a:ext cx="14288" cy="1428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Shape 9"/>
          <p:cNvSpPr/>
          <p:nvPr/>
        </p:nvSpPr>
        <p:spPr>
          <a:xfrm>
            <a:off x="4872038" y="2071688"/>
            <a:ext cx="2886075" cy="457200"/>
          </a:xfrm>
          <a:prstGeom prst="rect">
            <a:avLst/>
          </a:prstGeom>
          <a:solidFill>
            <a:srgbClr val="3182CE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872038" y="2071688"/>
            <a:ext cx="2886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业务逻辑层 (Flask 路由 / Controller)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307931" y="2607469"/>
            <a:ext cx="14288" cy="1428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Shape 12"/>
          <p:cNvSpPr/>
          <p:nvPr/>
        </p:nvSpPr>
        <p:spPr>
          <a:xfrm>
            <a:off x="4872038" y="2857500"/>
            <a:ext cx="2886075" cy="457200"/>
          </a:xfrm>
          <a:prstGeom prst="rect">
            <a:avLst/>
          </a:prstGeom>
          <a:solidFill>
            <a:srgbClr val="3182CE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872038" y="2857500"/>
            <a:ext cx="2886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数据访问层 (SQLAlchemy ORM)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307931" y="3393281"/>
            <a:ext cx="14288" cy="1428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Shape 15"/>
          <p:cNvSpPr/>
          <p:nvPr/>
        </p:nvSpPr>
        <p:spPr>
          <a:xfrm>
            <a:off x="5600700" y="3643313"/>
            <a:ext cx="1428750" cy="57150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22" name="Text 16"/>
          <p:cNvSpPr/>
          <p:nvPr/>
        </p:nvSpPr>
        <p:spPr>
          <a:xfrm>
            <a:off x="5600700" y="3643313"/>
            <a:ext cx="142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SQLite 数据库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22860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用户模块保障身份安全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285289"/>
            <a:ext cx="3929063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核心功能演示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14375" y="1947872"/>
            <a:ext cx="285750" cy="28575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83" y="2026453"/>
            <a:ext cx="16073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947872"/>
            <a:ext cx="29575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注册与登录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实现用户自主注册与身份验证，确保系统访问受控。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14375" y="2537901"/>
            <a:ext cx="285750" cy="28575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6" y="2616482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537901"/>
            <a:ext cx="305786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Session 会话管理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 Flask Session 维持登录状态，保障操作连续性。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714375" y="3127930"/>
            <a:ext cx="285750" cy="28575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83" y="3206511"/>
            <a:ext cx="160734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127930"/>
            <a:ext cx="29575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多角色权限区分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严格区分学生与管理员角色，提供差异化功能视图。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786313" y="1285289"/>
            <a:ext cx="3929063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安全机制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86313" y="1833572"/>
            <a:ext cx="3929063" cy="3143250"/>
          </a:xfrm>
          <a:prstGeom prst="rect">
            <a:avLst/>
          </a:prstGeom>
          <a:solidFill>
            <a:srgbClr val="F7FAF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2151469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57800" y="2147897"/>
            <a:ext cx="6858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密码加密存储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5072063" y="2397928"/>
            <a:ext cx="335756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采用 Werkzeug 库的 generate_password_hash 进行加盐哈希处理，数据库不存储明文密码。</a:t>
            </a:r>
            <a:endParaRPr lang="en-US" sz="8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3" y="2973000"/>
            <a:ext cx="142875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86375" y="2969428"/>
            <a:ext cx="6858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路由访问控制</a:t>
            </a:r>
            <a:endParaRPr lang="en-US" sz="800" dirty="0"/>
          </a:p>
        </p:txBody>
      </p:sp>
      <p:sp>
        <p:nvSpPr>
          <p:cNvPr id="22" name="Text 14"/>
          <p:cNvSpPr/>
          <p:nvPr/>
        </p:nvSpPr>
        <p:spPr>
          <a:xfrm>
            <a:off x="5072063" y="3219459"/>
            <a:ext cx="335756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使用装饰器对敏感路由进行拦截，未登录或权限不足的用户将被重定向至登录页。</a:t>
            </a:r>
            <a:endParaRPr lang="en-US" sz="8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3794531"/>
            <a:ext cx="100013" cy="1143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43513" y="3790959"/>
            <a:ext cx="6858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身份基础支撑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5072063" y="4040991"/>
            <a:ext cx="335756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为成绩查询、成绩维护和系统日志提供统一的身份关联基础。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22860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成绩管理覆盖核心流程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000125"/>
            <a:ext cx="4000500" cy="34575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000125"/>
            <a:ext cx="4000500" cy="28575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395124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4406" y="1356726"/>
            <a:ext cx="18859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管理员：全生命周期维护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1776422"/>
            <a:ext cx="100013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5856" y="1747847"/>
            <a:ext cx="307895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成绩录入：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支持单条或批量导入课程成绩，确保数据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及时入库。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2366451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0144" y="2337876"/>
            <a:ext cx="306466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动态修改：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针对录入错误提供便捷的修改接口，保留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操作日志。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8" y="2956480"/>
            <a:ext cx="100013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35856" y="2927905"/>
            <a:ext cx="307895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数据清理：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支持删除无效或过期的成绩记录，维护数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据库整洁。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4714875" y="1000125"/>
            <a:ext cx="4000500" cy="34575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Shape 9"/>
          <p:cNvSpPr/>
          <p:nvPr/>
        </p:nvSpPr>
        <p:spPr>
          <a:xfrm>
            <a:off x="4714875" y="1000125"/>
            <a:ext cx="4000500" cy="28575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395124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07794" y="1356726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学生：多维度自助查询</a:t>
            </a:r>
            <a:endParaRPr lang="en-US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938" y="1776422"/>
            <a:ext cx="114300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36394" y="1747847"/>
            <a:ext cx="306466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个人成绩查询：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登录后仅可查看本人成绩，保障隐私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安全。</a:t>
            </a:r>
            <a:endParaRPr lang="en-US" sz="9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938" y="2366451"/>
            <a:ext cx="114300" cy="1143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36394" y="2337876"/>
            <a:ext cx="306466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学期筛选：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支持按学年、学期进行快速过滤，方便追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踪学业进度。</a:t>
            </a:r>
            <a:endParaRPr lang="en-US" sz="9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4938" y="2956480"/>
            <a:ext cx="85725" cy="1143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407819" y="2927905"/>
            <a:ext cx="309324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Excel 导出：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一键生成标准成绩单报表，便于离线保存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与打印。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18288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测试覆盖关键风险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142414"/>
            <a:ext cx="4800600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测试策略与执行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47834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0119" y="1619259"/>
            <a:ext cx="4279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用例设计：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设计 10 条核心测试用例，全面覆盖注册、登录、权限验证与成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绩查询等关键业务路径。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166426"/>
            <a:ext cx="16073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2266" y="2137851"/>
            <a:ext cx="424695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自动化测试：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基于 Python unittest 框架编写自动化单元测试脚本，确保核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心逻辑的稳定性。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685018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0119" y="2656443"/>
            <a:ext cx="4279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风险关注：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重点验证异常输入、重复注册、错误密码及越权访问等高风险安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全场景。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5514975" y="1142414"/>
            <a:ext cx="3200400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测试结果统计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514975" y="1619259"/>
            <a:ext cx="3200400" cy="30718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8"/>
          <p:cNvSpPr/>
          <p:nvPr/>
        </p:nvSpPr>
        <p:spPr>
          <a:xfrm>
            <a:off x="5729288" y="2119322"/>
            <a:ext cx="277177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38A16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100%</a:t>
            </a:r>
            <a:endParaRPr lang="en-US" sz="4150" dirty="0"/>
          </a:p>
        </p:txBody>
      </p:sp>
      <p:sp>
        <p:nvSpPr>
          <p:cNvPr id="15" name="Text 9"/>
          <p:cNvSpPr/>
          <p:nvPr/>
        </p:nvSpPr>
        <p:spPr>
          <a:xfrm>
            <a:off x="5729288" y="2847984"/>
            <a:ext cx="277177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测试通过率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729288" y="3381980"/>
            <a:ext cx="1314450" cy="678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1"/>
          <p:cNvSpPr/>
          <p:nvPr/>
        </p:nvSpPr>
        <p:spPr>
          <a:xfrm>
            <a:off x="5800725" y="3489136"/>
            <a:ext cx="117157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 / 10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800725" y="3685589"/>
            <a:ext cx="11715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用例执行数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7186613" y="3381980"/>
            <a:ext cx="1314450" cy="6786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4"/>
          <p:cNvSpPr/>
          <p:nvPr/>
        </p:nvSpPr>
        <p:spPr>
          <a:xfrm>
            <a:off x="7258050" y="3489136"/>
            <a:ext cx="117157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258050" y="3685589"/>
            <a:ext cx="11715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未修复缺陷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1981163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 工作流支撑协作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285289"/>
            <a:ext cx="3929063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协作规范与实践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14375" y="1947872"/>
            <a:ext cx="285750" cy="28575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42" y="2026453"/>
            <a:ext cx="125016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947872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 + GitHub 协作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采用分布式版本控制，确保代码变更可追踪、可回退，保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障团队并行开发。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14375" y="2779337"/>
            <a:ext cx="285750" cy="28575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93" y="2857919"/>
            <a:ext cx="112514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779337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小步提交规范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坚持原子化提交，Commit 信息清晰描述变更内容，降低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代码审查与冲突解决成本。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714375" y="3610803"/>
            <a:ext cx="285750" cy="28575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3689384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610803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开发轨迹透明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完整的提交历史记录展示了项目从雏形到结项的演进过</a:t>
            </a: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程。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786313" y="1285289"/>
            <a:ext cx="3929063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182C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关键里程碑标签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86313" y="1833572"/>
            <a:ext cx="3929063" cy="31432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1"/>
          <p:cNvSpPr/>
          <p:nvPr/>
        </p:nvSpPr>
        <p:spPr>
          <a:xfrm>
            <a:off x="5500688" y="2119322"/>
            <a:ext cx="29289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v1-plan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500688" y="2319347"/>
            <a:ext cx="29289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计划阶段：完成需求分析与任务分解，确立技术选型。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5500688" y="2769403"/>
            <a:ext cx="29289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v2-design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500688" y="2969428"/>
            <a:ext cx="29289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设计阶段：完成数据库建模、UI 原型设计与核心架构搭建。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5500688" y="3583791"/>
            <a:ext cx="29289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v3-final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500688" y="3783816"/>
            <a:ext cx="29289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结项阶段：完成全模块开发、自动化测试与最终文档交付。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2692971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个人贡献总结 (lengye241)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000125"/>
            <a:ext cx="4036219" cy="19216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000125"/>
            <a:ext cx="4036219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7" name="Shape 4"/>
          <p:cNvSpPr/>
          <p:nvPr/>
        </p:nvSpPr>
        <p:spPr>
          <a:xfrm>
            <a:off x="607219" y="1279680"/>
            <a:ext cx="285750" cy="28575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73" y="1358261"/>
            <a:ext cx="96441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125" y="1309148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文档编写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7219" y="1773548"/>
            <a:ext cx="36790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独立编写全部 </a:t>
            </a:r>
            <a:r>
              <a:rPr lang="en-US" sz="800" b="1" dirty="0">
                <a:solidFill>
                  <a:srgbClr val="3182C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12 份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项目文档，涵盖需求分析、设计文档、测试文档、会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议纪要、任务分解、使用说明书、中期报告及结项报告，确保项目全生命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周期记录完整。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79156" y="1000125"/>
            <a:ext cx="4036219" cy="19216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8"/>
          <p:cNvSpPr/>
          <p:nvPr/>
        </p:nvSpPr>
        <p:spPr>
          <a:xfrm>
            <a:off x="4679156" y="1000125"/>
            <a:ext cx="4036219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Shape 9"/>
          <p:cNvSpPr/>
          <p:nvPr/>
        </p:nvSpPr>
        <p:spPr>
          <a:xfrm>
            <a:off x="4857750" y="1279680"/>
            <a:ext cx="285750" cy="28575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31" y="1358261"/>
            <a:ext cx="128588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50656" y="1309148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测试保障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57750" y="1773548"/>
            <a:ext cx="36790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负责系统整体测试工作。设计了 </a:t>
            </a:r>
            <a:r>
              <a:rPr lang="en-US" sz="800" b="1" dirty="0">
                <a:solidFill>
                  <a:srgbClr val="3182C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 条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核心测试用例，并基于 Python 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unittest 编写了自动化测试脚本，实现了关键业务逻辑的回归测试自动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化。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428625" y="3136106"/>
            <a:ext cx="4036219" cy="19216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3"/>
          <p:cNvSpPr/>
          <p:nvPr/>
        </p:nvSpPr>
        <p:spPr>
          <a:xfrm>
            <a:off x="428625" y="3136106"/>
            <a:ext cx="4036219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9" name="Shape 14"/>
          <p:cNvSpPr/>
          <p:nvPr/>
        </p:nvSpPr>
        <p:spPr>
          <a:xfrm>
            <a:off x="607219" y="3415661"/>
            <a:ext cx="285750" cy="28575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94243"/>
            <a:ext cx="128588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0125" y="3445129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项目管理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07219" y="3909529"/>
            <a:ext cx="367903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担任项目协调人。组织团队会议，进行 </a:t>
            </a:r>
            <a:r>
              <a:rPr lang="en-US" sz="800" b="1" dirty="0">
                <a:solidFill>
                  <a:srgbClr val="3182C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任务分解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与进度跟踪，维护 Git 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仓库协作规范，确保项目按计划节点高质量交付。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679156" y="3136106"/>
            <a:ext cx="4036219" cy="19216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Shape 18"/>
          <p:cNvSpPr/>
          <p:nvPr/>
        </p:nvSpPr>
        <p:spPr>
          <a:xfrm>
            <a:off x="4679156" y="3136106"/>
            <a:ext cx="4036219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5" name="Shape 19"/>
          <p:cNvSpPr/>
          <p:nvPr/>
        </p:nvSpPr>
        <p:spPr>
          <a:xfrm>
            <a:off x="4857750" y="3387086"/>
            <a:ext cx="285750" cy="28575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58" y="3465668"/>
            <a:ext cx="160734" cy="128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0656" y="3416554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核心开发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857750" y="3880954"/>
            <a:ext cx="367903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负责 </a:t>
            </a:r>
            <a:r>
              <a:rPr lang="en-US" sz="800" b="1" dirty="0">
                <a:solidFill>
                  <a:srgbClr val="3182C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用户模块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的全栈实现。包括 User 模型设计、注册与登录路由逻</a:t>
            </a:r>
            <a:r>
              <a:rPr lang="en-US" sz="8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辑、基于 Werkzeug 的密码加密以及 Session 会话管理机制。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91988"/>
            <a:ext cx="22860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问题解决促进能力提升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142414"/>
            <a:ext cx="4800600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挑战与对策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54978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406" y="1649620"/>
            <a:ext cx="11501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初期 Git 克隆失败：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114550" y="1649620"/>
            <a:ext cx="26933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网络环境限制导致无法正常拉取 GitHub 仓库。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06" y="1892843"/>
            <a:ext cx="128588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2994" y="1891057"/>
            <a:ext cx="28075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8A16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解决方案：配置 VPN 代理与 Git 全局代理参数。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280726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4406" y="2275368"/>
            <a:ext cx="9001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目录结构冲突：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864519" y="2275368"/>
            <a:ext cx="24789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多人同时修改同一目录导致代码覆盖风险。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06" y="2518590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2994" y="2516805"/>
            <a:ext cx="290747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8A16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解决方案：规范协作流程，坚持“先 pull 后开发”。</a:t>
            </a:r>
            <a:endParaRPr lang="en-US" sz="9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906474"/>
            <a:ext cx="142875" cy="1428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4406" y="2901116"/>
            <a:ext cx="9001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权限边界设计：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1864519" y="2901116"/>
            <a:ext cx="22217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角色权限校验逻辑初期存在越权漏洞。</a:t>
            </a:r>
            <a:endParaRPr lang="en-US" sz="9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406" y="3144338"/>
            <a:ext cx="128588" cy="12858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92994" y="3142552"/>
            <a:ext cx="28791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8A16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解决方案：引入 Flask 装饰器进行统一路由拦截。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5514975" y="1142414"/>
            <a:ext cx="3200400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项目收获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5514975" y="1619259"/>
            <a:ext cx="3200400" cy="324326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14"/>
          <p:cNvSpPr/>
          <p:nvPr/>
        </p:nvSpPr>
        <p:spPr>
          <a:xfrm>
            <a:off x="5514975" y="1619259"/>
            <a:ext cx="32004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4" name="Text 15"/>
          <p:cNvSpPr/>
          <p:nvPr/>
        </p:nvSpPr>
        <p:spPr>
          <a:xfrm>
            <a:off x="5893594" y="1833572"/>
            <a:ext cx="1535906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掌握 Git 团队协作标准流程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5893594" y="2163970"/>
            <a:ext cx="1626431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理解 Web 系统开发完整闭环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5893594" y="2494369"/>
            <a:ext cx="14144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建立规范的项目文档体系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5893594" y="2824767"/>
            <a:ext cx="1800225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提升复杂问题的调试与解决能力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5893594" y="3155166"/>
            <a:ext cx="167163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强化团队沟通与任务分解意识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61022" y="1323826"/>
            <a:ext cx="4221956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A365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致谢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022" y="2600771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39628" y="2515046"/>
            <a:ext cx="3943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感谢全组成员在开发、测试与文档编写中的辛勤付出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316" y="2943671"/>
            <a:ext cx="214313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46784" y="2857946"/>
            <a:ext cx="3771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感谢指导老师在项目实践过程中的悉心指导与建议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2461022" y="3629471"/>
            <a:ext cx="4221956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spc="3" kern="0" dirty="0">
                <a:solidFill>
                  <a:srgbClr val="3182C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谢谢观看！</a:t>
            </a:r>
            <a:endParaRPr lang="en-US" sz="2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2026-05-19T06:18:13Z</dcterms:created>
  <dcterms:modified xsi:type="dcterms:W3CDTF">2026-05-19T06:18:13Z</dcterms:modified>
</cp:coreProperties>
</file>