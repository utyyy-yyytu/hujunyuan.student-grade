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jpe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jpe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74329" y="1757363"/>
            <a:ext cx="5595342" cy="6625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学生成绩管理系统 结项答辩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774329" y="2562820"/>
            <a:ext cx="5595342" cy="3303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信息系统实践课程项目</a:t>
            </a:r>
            <a:endParaRPr lang="en-US" sz="17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336" y="3496866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366367" y="3464719"/>
            <a:ext cx="3027164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成员：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lengye241、utyyy-yyytu、chenghlixue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281" y="3496866"/>
            <a:ext cx="125016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75734" y="3464719"/>
            <a:ext cx="1151930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日期：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38组_学生成绩管理系统_演示视频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项目背景与目标</a:t>
            </a:r>
            <a:endParaRPr lang="en-US" sz="1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226046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50106" y="1187648"/>
            <a:ext cx="857250" cy="2482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背景与痛点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85925"/>
            <a:ext cx="89297" cy="192881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67953" y="1650206"/>
            <a:ext cx="3348633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传统 </a:t>
            </a:r>
            <a:r>
              <a:rPr lang="en-US" sz="10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Excel 管理模式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效率低下，数据更新同步困难。</a:t>
            </a:r>
            <a:endParaRPr lang="en-US" sz="10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93119"/>
            <a:ext cx="89297" cy="19288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767953" y="2057400"/>
            <a:ext cx="3143250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成绩查询不便，缺乏实时的在线访问与反馈机制。</a:t>
            </a:r>
            <a:endParaRPr lang="en-US" sz="105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00313"/>
            <a:ext cx="89297" cy="192881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767953" y="2464594"/>
            <a:ext cx="3143250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权限管理缺失，难以保障数据的安全性和一致性。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050" y="1226046"/>
            <a:ext cx="171450" cy="17145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250656" y="1187648"/>
            <a:ext cx="685800" cy="2482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开发目标</a:t>
            </a:r>
            <a:endParaRPr lang="en-US" sz="1200" dirty="0"/>
          </a:p>
        </p:txBody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2050" y="1685925"/>
            <a:ext cx="142875" cy="421481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5222081" y="1650206"/>
            <a:ext cx="3350419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构建 </a:t>
            </a:r>
            <a:r>
              <a:rPr lang="en-US" sz="10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Web 化管理平台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，实现成绩在线查询、录入、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修改。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50" y="2321719"/>
            <a:ext cx="142875" cy="192881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5222081" y="2286000"/>
            <a:ext cx="3164681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支持一键数据统计与 </a:t>
            </a:r>
            <a:r>
              <a:rPr lang="en-US" sz="10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Excel 导出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，优化办公流程。</a:t>
            </a:r>
            <a:endParaRPr lang="en-US" sz="1050" dirty="0"/>
          </a:p>
        </p:txBody>
      </p:sp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2050" y="2728913"/>
            <a:ext cx="142875" cy="192881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5222081" y="2693194"/>
            <a:ext cx="3327202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 </a:t>
            </a:r>
            <a:r>
              <a:rPr lang="en-US" sz="10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多角色访问控制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，支持学生与管理员不同权限。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技术架构设计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714375" y="1473398"/>
            <a:ext cx="2143125" cy="1428750"/>
          </a:xfrm>
          <a:prstGeom prst="rect">
            <a:avLst/>
          </a:prstGeom>
          <a:solidFill>
            <a:srgbClr val="FFFFFF"/>
          </a:solidFill>
          <a:ln w="18288">
            <a:solidFill>
              <a:srgbClr val="2563EB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825228"/>
            <a:ext cx="428625" cy="3429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27820" y="2275284"/>
            <a:ext cx="1316236" cy="22681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表示层 (Frontend)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134963" y="2609255"/>
            <a:ext cx="1301948" cy="1553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HTML5 + Bootstrap 5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094" y="2044898"/>
            <a:ext cx="285750" cy="28575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500438" y="1473398"/>
            <a:ext cx="2143125" cy="1428750"/>
          </a:xfrm>
          <a:prstGeom prst="rect">
            <a:avLst/>
          </a:prstGeom>
          <a:solidFill>
            <a:srgbClr val="FFFFFF"/>
          </a:solidFill>
          <a:ln w="18288">
            <a:solidFill>
              <a:srgbClr val="2563EB"/>
            </a:solidFill>
            <a:prstDash val="solid"/>
          </a:ln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1981" y="1825228"/>
            <a:ext cx="300038" cy="3429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926384" y="2275284"/>
            <a:ext cx="1291233" cy="22681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逻辑层 (Backend)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4120158" y="2609255"/>
            <a:ext cx="903684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+ Flask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156" y="2044898"/>
            <a:ext cx="285750" cy="28575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6286500" y="1473398"/>
            <a:ext cx="2143125" cy="1428750"/>
          </a:xfrm>
          <a:prstGeom prst="rect">
            <a:avLst/>
          </a:prstGeom>
          <a:solidFill>
            <a:srgbClr val="FFFFFF"/>
          </a:solidFill>
          <a:ln w="18288">
            <a:solidFill>
              <a:srgbClr val="2563EB"/>
            </a:solidFill>
            <a:prstDash val="solid"/>
          </a:ln>
        </p:spPr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8044" y="1825228"/>
            <a:ext cx="300038" cy="3429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6682085" y="2275284"/>
            <a:ext cx="1351955" cy="22681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数据层 (Database)</a:t>
            </a:r>
            <a:endParaRPr lang="en-US" sz="1100" dirty="0"/>
          </a:p>
        </p:txBody>
      </p:sp>
      <p:sp>
        <p:nvSpPr>
          <p:cNvPr id="17" name="Text 9"/>
          <p:cNvSpPr/>
          <p:nvPr/>
        </p:nvSpPr>
        <p:spPr>
          <a:xfrm>
            <a:off x="6878538" y="2609255"/>
            <a:ext cx="959048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/ SQLite</a:t>
            </a:r>
            <a:endParaRPr lang="en-US" sz="950" dirty="0"/>
          </a:p>
        </p:txBody>
      </p:sp>
      <p:sp>
        <p:nvSpPr>
          <p:cNvPr id="18" name="Text 10"/>
          <p:cNvSpPr/>
          <p:nvPr/>
        </p:nvSpPr>
        <p:spPr>
          <a:xfrm>
            <a:off x="842963" y="3473648"/>
            <a:ext cx="2314575" cy="617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响应式布局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适配 PC 与移动端，提供一致的用户交互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体验。</a:t>
            </a:r>
            <a:endParaRPr lang="en-US" sz="950" dirty="0"/>
          </a:p>
        </p:txBody>
      </p:sp>
      <p:sp>
        <p:nvSpPr>
          <p:cNvPr id="19" name="Text 11"/>
          <p:cNvSpPr/>
          <p:nvPr/>
        </p:nvSpPr>
        <p:spPr>
          <a:xfrm>
            <a:off x="3414713" y="3473648"/>
            <a:ext cx="2314575" cy="617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B/S 架构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前后端紧密协作，采用 SQLAlchemy 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ORM 简化数据操作。</a:t>
            </a:r>
            <a:endParaRPr lang="en-US" sz="950" dirty="0"/>
          </a:p>
        </p:txBody>
      </p:sp>
      <p:sp>
        <p:nvSpPr>
          <p:cNvPr id="20" name="Text 12"/>
          <p:cNvSpPr/>
          <p:nvPr/>
        </p:nvSpPr>
        <p:spPr>
          <a:xfrm>
            <a:off x="5986463" y="3473648"/>
            <a:ext cx="2314575" cy="617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高可扩展性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支持多数据库切换，模块化设计便于功能</a:t>
            </a: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迭代。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团队分工协作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187648"/>
            <a:ext cx="8001000" cy="3007519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1500" y="1187648"/>
            <a:ext cx="1600200" cy="428625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6" name="Text 3"/>
          <p:cNvSpPr/>
          <p:nvPr/>
        </p:nvSpPr>
        <p:spPr>
          <a:xfrm>
            <a:off x="571500" y="1187648"/>
            <a:ext cx="1600200" cy="428625"/>
          </a:xfrm>
          <a:prstGeom prst="rect">
            <a:avLst/>
          </a:prstGeom>
          <a:noFill/>
        </p:spPr>
        <p:txBody>
          <a:bodyPr wrap="square" lIns="170053" tIns="170053" rIns="170053" bIns="0" rtlCol="0" anchor="ctr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成员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171700" y="1187648"/>
            <a:ext cx="2000250" cy="428625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8" name="Text 5"/>
          <p:cNvSpPr/>
          <p:nvPr/>
        </p:nvSpPr>
        <p:spPr>
          <a:xfrm>
            <a:off x="2171700" y="1187648"/>
            <a:ext cx="2000250" cy="428625"/>
          </a:xfrm>
          <a:prstGeom prst="rect">
            <a:avLst/>
          </a:prstGeom>
          <a:noFill/>
        </p:spPr>
        <p:txBody>
          <a:bodyPr wrap="square" lIns="170053" tIns="170053" rIns="170053" bIns="0" rtlCol="0" anchor="ctr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核心职责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71950" y="1187648"/>
            <a:ext cx="4400550" cy="428625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0" name="Text 7"/>
          <p:cNvSpPr/>
          <p:nvPr/>
        </p:nvSpPr>
        <p:spPr>
          <a:xfrm>
            <a:off x="4171950" y="1187648"/>
            <a:ext cx="4400550" cy="428625"/>
          </a:xfrm>
          <a:prstGeom prst="rect">
            <a:avLst/>
          </a:prstGeom>
          <a:noFill/>
        </p:spPr>
        <p:txBody>
          <a:bodyPr wrap="square" lIns="170053" tIns="170053" rIns="170053" bIns="0" rtlCol="0" anchor="ctr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具体模块与贡献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797714"/>
            <a:ext cx="160734" cy="1285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46547" y="1759148"/>
            <a:ext cx="642938" cy="20571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lengye241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314575" y="1766292"/>
            <a:ext cx="671513" cy="188584"/>
          </a:xfrm>
          <a:prstGeom prst="rect">
            <a:avLst/>
          </a:prstGeom>
          <a:solidFill>
            <a:srgbClr val="EFF6FF"/>
          </a:solidFill>
        </p:spPr>
      </p:sp>
      <p:sp>
        <p:nvSpPr>
          <p:cNvPr id="14" name="Text 10"/>
          <p:cNvSpPr/>
          <p:nvPr/>
        </p:nvSpPr>
        <p:spPr>
          <a:xfrm>
            <a:off x="2314575" y="1766292"/>
            <a:ext cx="671513" cy="188584"/>
          </a:xfrm>
          <a:prstGeom prst="rect">
            <a:avLst/>
          </a:prstGeom>
          <a:noFill/>
        </p:spPr>
        <p:txBody>
          <a:bodyPr wrap="none" lIns="102108" tIns="34036" rIns="102108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测试与管理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4171950" y="1616273"/>
            <a:ext cx="4400550" cy="857250"/>
          </a:xfrm>
          <a:prstGeom prst="rect">
            <a:avLst/>
          </a:prstGeom>
          <a:noFill/>
        </p:spPr>
        <p:txBody>
          <a:bodyPr wrap="square" lIns="170053" tIns="170053" rIns="170053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全套项目文档编写（12+份）、项目进度管理、用户登录/注册模块开发、自动化测试脚本编写。</a:t>
            </a:r>
            <a:endParaRPr lang="en-US" sz="9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58535"/>
            <a:ext cx="160734" cy="1285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6547" y="2619970"/>
            <a:ext cx="775097" cy="20571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utyyy-yyytu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314575" y="2627114"/>
            <a:ext cx="671513" cy="188584"/>
          </a:xfrm>
          <a:prstGeom prst="rect">
            <a:avLst/>
          </a:prstGeom>
          <a:solidFill>
            <a:srgbClr val="EFF6FF"/>
          </a:solidFill>
        </p:spPr>
      </p:sp>
      <p:sp>
        <p:nvSpPr>
          <p:cNvPr id="19" name="Text 14"/>
          <p:cNvSpPr/>
          <p:nvPr/>
        </p:nvSpPr>
        <p:spPr>
          <a:xfrm>
            <a:off x="2314575" y="2627114"/>
            <a:ext cx="671513" cy="188584"/>
          </a:xfrm>
          <a:prstGeom prst="rect">
            <a:avLst/>
          </a:prstGeom>
          <a:noFill/>
        </p:spPr>
        <p:txBody>
          <a:bodyPr wrap="none" lIns="102108" tIns="34036" rIns="102108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开发与美化</a:t>
            </a:r>
            <a:endParaRPr lang="en-US" sz="700" dirty="0"/>
          </a:p>
        </p:txBody>
      </p:sp>
      <p:sp>
        <p:nvSpPr>
          <p:cNvPr id="20" name="Text 15"/>
          <p:cNvSpPr/>
          <p:nvPr/>
        </p:nvSpPr>
        <p:spPr>
          <a:xfrm>
            <a:off x="4171950" y="2473523"/>
            <a:ext cx="4400550" cy="857250"/>
          </a:xfrm>
          <a:prstGeom prst="rect">
            <a:avLst/>
          </a:prstGeom>
          <a:noFill/>
        </p:spPr>
        <p:txBody>
          <a:bodyPr wrap="square" lIns="170053" tIns="170053" rIns="170053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Flask项目框架初始化、全站前端页面响应式美化、学生/课程/成绩CRUD功能实现、Excel导出功能。</a:t>
            </a:r>
            <a:endParaRPr lang="en-US" sz="9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3515785"/>
            <a:ext cx="160734" cy="1285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6547" y="3477220"/>
            <a:ext cx="778669" cy="20571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chenghlixue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2314575" y="3484364"/>
            <a:ext cx="771525" cy="188584"/>
          </a:xfrm>
          <a:prstGeom prst="rect">
            <a:avLst/>
          </a:prstGeom>
          <a:solidFill>
            <a:srgbClr val="EFF6FF"/>
          </a:solidFill>
        </p:spPr>
      </p:sp>
      <p:sp>
        <p:nvSpPr>
          <p:cNvPr id="24" name="Text 18"/>
          <p:cNvSpPr/>
          <p:nvPr/>
        </p:nvSpPr>
        <p:spPr>
          <a:xfrm>
            <a:off x="2314575" y="3484364"/>
            <a:ext cx="771525" cy="188584"/>
          </a:xfrm>
          <a:prstGeom prst="rect">
            <a:avLst/>
          </a:prstGeom>
          <a:noFill/>
        </p:spPr>
        <p:txBody>
          <a:bodyPr wrap="none" lIns="102108" tIns="34036" rIns="102108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数据库与核心</a:t>
            </a:r>
            <a:endParaRPr lang="en-US" sz="700" dirty="0"/>
          </a:p>
        </p:txBody>
      </p:sp>
      <p:sp>
        <p:nvSpPr>
          <p:cNvPr id="25" name="Text 19"/>
          <p:cNvSpPr/>
          <p:nvPr/>
        </p:nvSpPr>
        <p:spPr>
          <a:xfrm>
            <a:off x="4171950" y="3330773"/>
            <a:ext cx="4400550" cy="857250"/>
          </a:xfrm>
          <a:prstGeom prst="rect">
            <a:avLst/>
          </a:prstGeom>
          <a:noFill/>
        </p:spPr>
        <p:txBody>
          <a:bodyPr wrap="square" lIns="170053" tIns="170053" rIns="170053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数据库概念/逻辑设计、SQL建表脚本编写、SQLAlchemy数据模型定义、核心API逻辑实现、环境配置。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我的核心工作 (lengye241)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187648"/>
            <a:ext cx="3857625" cy="157162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415355"/>
            <a:ext cx="150019" cy="2000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2988" y="1401961"/>
            <a:ext cx="1100138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全周期文档体系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85813" y="1771650"/>
            <a:ext cx="34290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独立编写 </a:t>
            </a: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12+ 份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项目文档，涵盖需求分析、架构设计、测试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报告及用户说明书，确保项目流程规范化。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714875" y="1187648"/>
            <a:ext cx="3857625" cy="157162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188" y="1415355"/>
            <a:ext cx="200025" cy="2000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36369" y="1401961"/>
            <a:ext cx="1100138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质量保障与测试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4929188" y="1771650"/>
            <a:ext cx="34290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设计 10 条核心功能用例，编写 </a:t>
            </a: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自动化单元测试脚本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(test_auth.py)，实现代码回归测试自动化。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571500" y="3045023"/>
            <a:ext cx="3857625" cy="157162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13" y="3272730"/>
            <a:ext cx="250031" cy="20002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3259336"/>
            <a:ext cx="942975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核心模块开发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785813" y="3629025"/>
            <a:ext cx="34290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负责 </a:t>
            </a: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用户认证模块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开发，实现注册、登录逻辑及密码哈希加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密存储，构建系统安全基石。</a:t>
            </a:r>
            <a:endParaRPr 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4714875" y="3045023"/>
            <a:ext cx="3857625" cy="157162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188" y="3272730"/>
            <a:ext cx="200025" cy="2000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36369" y="3259336"/>
            <a:ext cx="1100138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项目管理与协作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4929188" y="3629025"/>
            <a:ext cx="34290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组织团队会议，维护 </a:t>
            </a: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 仓库规范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，解决环境代理与代码冲</a:t>
            </a: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突，保障团队高效协同开发。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系统功能演示（二）：成绩管理</a:t>
            </a:r>
            <a:endParaRPr lang="en-US" sz="1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151037"/>
            <a:ext cx="157163" cy="15716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14388" y="1116211"/>
            <a:ext cx="1257300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管理员核心工作台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71500" y="1414463"/>
            <a:ext cx="302895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提供直观的成绩管理仪表盘，支持对全校/全班学生成绩的集中化管理。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10755"/>
            <a:ext cx="157163" cy="1571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14388" y="2075929"/>
            <a:ext cx="1309092" cy="22681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全流程 CRUD 操作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571500" y="2374181"/>
            <a:ext cx="302895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实现成绩的快速录入、批量修改与精准删除，确保数据的实时准确。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070473"/>
            <a:ext cx="176808" cy="15716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34033" y="3035647"/>
            <a:ext cx="1114425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一键 Excel 导出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571500" y="3333899"/>
            <a:ext cx="302895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支持将筛选后的成绩结果一键导出为标准 Excel 报表，极大提升办公效率。</a:t>
            </a:r>
            <a:endParaRPr lang="en-US" sz="950" dirty="0"/>
          </a:p>
        </p:txBody>
      </p:sp>
      <p:sp>
        <p:nvSpPr>
          <p:cNvPr id="13" name="Shape 7"/>
          <p:cNvSpPr/>
          <p:nvPr/>
        </p:nvSpPr>
        <p:spPr>
          <a:xfrm>
            <a:off x="4029075" y="1116211"/>
            <a:ext cx="4543425" cy="3000375"/>
          </a:xfrm>
          <a:prstGeom prst="rect">
            <a:avLst/>
          </a:prstGeom>
          <a:solidFill>
            <a:srgbClr val="FFFFFF"/>
          </a:solidFill>
          <a:ln w="18288">
            <a:solidFill>
              <a:srgbClr val="E2E8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029075" y="1116211"/>
            <a:ext cx="4543425" cy="28575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15" name="Shape 9"/>
          <p:cNvSpPr/>
          <p:nvPr/>
        </p:nvSpPr>
        <p:spPr>
          <a:xfrm>
            <a:off x="4029075" y="1394817"/>
            <a:ext cx="4543425" cy="7144"/>
          </a:xfrm>
          <a:prstGeom prst="rect">
            <a:avLst/>
          </a:prstGeom>
          <a:solidFill>
            <a:srgbClr val="E2E8F0"/>
          </a:solidFill>
        </p:spPr>
      </p:sp>
      <p:sp>
        <p:nvSpPr>
          <p:cNvPr id="16" name="Text 10"/>
          <p:cNvSpPr/>
          <p:nvPr/>
        </p:nvSpPr>
        <p:spPr>
          <a:xfrm>
            <a:off x="4593431" y="1196578"/>
            <a:ext cx="1032272" cy="12501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学生成绩管理系统 - 仪表盘</a:t>
            </a:r>
            <a:endParaRPr lang="en-US" sz="600" dirty="0"/>
          </a:p>
        </p:txBody>
      </p:sp>
      <p:sp>
        <p:nvSpPr>
          <p:cNvPr id="17" name="Shape 11"/>
          <p:cNvSpPr/>
          <p:nvPr/>
        </p:nvSpPr>
        <p:spPr>
          <a:xfrm>
            <a:off x="4029075" y="1401961"/>
            <a:ext cx="4543425" cy="2714625"/>
          </a:xfrm>
          <a:prstGeom prst="rect">
            <a:avLst/>
          </a:prstGeom>
          <a:solidFill>
            <a:srgbClr val="F8FAFC"/>
          </a:solidFill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9075" y="1401961"/>
            <a:ext cx="4543425" cy="2714625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5464969" y="4188023"/>
            <a:ext cx="1671638" cy="173236"/>
          </a:xfrm>
          <a:prstGeom prst="rect">
            <a:avLst/>
          </a:prstGeom>
          <a:solidFill>
            <a:srgbClr val="DBEAFE"/>
          </a:solidFill>
        </p:spPr>
      </p:sp>
      <p:sp>
        <p:nvSpPr>
          <p:cNvPr id="20" name="Text 13"/>
          <p:cNvSpPr/>
          <p:nvPr/>
        </p:nvSpPr>
        <p:spPr>
          <a:xfrm>
            <a:off x="5464969" y="4188023"/>
            <a:ext cx="1671638" cy="173236"/>
          </a:xfrm>
          <a:prstGeom prst="rect">
            <a:avLst/>
          </a:prstGeom>
          <a:noFill/>
        </p:spPr>
        <p:txBody>
          <a:bodyPr wrap="square" lIns="102108" tIns="34036" rIns="102108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E40A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管理员视角：系统首页与功能入口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系统功能演示（三）：个人成绩查询</a:t>
            </a:r>
            <a:endParaRPr lang="en-US" sz="1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222474"/>
            <a:ext cx="157163" cy="15716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14388" y="1187648"/>
            <a:ext cx="942975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学生专属视图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71500" y="1521619"/>
            <a:ext cx="28575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学生登录后直接进入个人成绩面板，仅展示与本人相关的数据，确保隐私安全。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53630"/>
            <a:ext cx="157163" cy="1571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14388" y="2218804"/>
            <a:ext cx="785813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多维度筛选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571500" y="2552774"/>
            <a:ext cx="28575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支持按学期、课程类型进行快速过滤，方便学生追踪不同阶段的学习成果。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284786"/>
            <a:ext cx="117872" cy="15716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75097" y="3249960"/>
            <a:ext cx="785813" cy="22681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响应式体验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571500" y="3583930"/>
            <a:ext cx="2857500" cy="4114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基于 Bootstrap 5 构建，完美适配手机浏览器，随时随地查询成绩。</a:t>
            </a:r>
            <a:endParaRPr lang="en-US" sz="950" dirty="0"/>
          </a:p>
        </p:txBody>
      </p:sp>
      <p:sp>
        <p:nvSpPr>
          <p:cNvPr id="13" name="Shape 7"/>
          <p:cNvSpPr/>
          <p:nvPr/>
        </p:nvSpPr>
        <p:spPr>
          <a:xfrm>
            <a:off x="3857625" y="1187648"/>
            <a:ext cx="4714875" cy="322897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857625" y="1187648"/>
            <a:ext cx="4714875" cy="357188"/>
          </a:xfrm>
          <a:prstGeom prst="rect">
            <a:avLst/>
          </a:prstGeom>
          <a:solidFill>
            <a:srgbClr val="1E293B"/>
          </a:solidFill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0" y="1309092"/>
            <a:ext cx="142875" cy="1143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214813" y="1284089"/>
            <a:ext cx="1487686" cy="1643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学生成绩管理系统 - 成绩详情</a:t>
            </a:r>
            <a:endParaRPr lang="en-US" sz="850" dirty="0"/>
          </a:p>
        </p:txBody>
      </p:sp>
      <p:sp>
        <p:nvSpPr>
          <p:cNvPr id="17" name="Shape 10"/>
          <p:cNvSpPr/>
          <p:nvPr/>
        </p:nvSpPr>
        <p:spPr>
          <a:xfrm>
            <a:off x="3857625" y="1544836"/>
            <a:ext cx="4714875" cy="2857500"/>
          </a:xfrm>
          <a:prstGeom prst="rect">
            <a:avLst/>
          </a:prstGeom>
          <a:solidFill>
            <a:srgbClr val="F8FAFC"/>
          </a:solidFill>
        </p:spPr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7625" y="1544836"/>
            <a:ext cx="4714875" cy="2857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5429250" y="4473773"/>
            <a:ext cx="1571625" cy="173236"/>
          </a:xfrm>
          <a:prstGeom prst="rect">
            <a:avLst/>
          </a:prstGeom>
          <a:solidFill>
            <a:srgbClr val="DBEAFE"/>
          </a:solidFill>
        </p:spPr>
      </p:sp>
      <p:sp>
        <p:nvSpPr>
          <p:cNvPr id="20" name="Text 12"/>
          <p:cNvSpPr/>
          <p:nvPr/>
        </p:nvSpPr>
        <p:spPr>
          <a:xfrm>
            <a:off x="5429250" y="4473773"/>
            <a:ext cx="1571625" cy="173236"/>
          </a:xfrm>
          <a:prstGeom prst="rect">
            <a:avLst/>
          </a:prstGeom>
          <a:noFill/>
        </p:spPr>
        <p:txBody>
          <a:bodyPr wrap="square" lIns="102108" tIns="34036" rIns="102108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E40A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学生视角：成绩管理与列表展示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项目测试与质量保障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116211"/>
            <a:ext cx="2400300" cy="128587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94" y="1362670"/>
            <a:ext cx="142875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4406" y="1330523"/>
            <a:ext cx="857250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核心流程覆盖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50094" y="1644848"/>
            <a:ext cx="2043113" cy="5485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针对注册、登录、成绩查询、数据导出等核心业务流程设计 10 条功能测试用例，确保逻辑闭环。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3371850" y="1116211"/>
            <a:ext cx="2400300" cy="128587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444" y="1362670"/>
            <a:ext cx="178594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800475" y="1330523"/>
            <a:ext cx="714375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自动化测试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550444" y="1668066"/>
            <a:ext cx="260747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编写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3811191" y="1657350"/>
            <a:ext cx="822982" cy="1553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test_auth.py</a:t>
            </a:r>
            <a:endParaRPr lang="en-US" sz="850" dirty="0"/>
          </a:p>
        </p:txBody>
      </p:sp>
      <p:sp>
        <p:nvSpPr>
          <p:cNvPr id="13" name="Text 8"/>
          <p:cNvSpPr/>
          <p:nvPr/>
        </p:nvSpPr>
        <p:spPr>
          <a:xfrm>
            <a:off x="4634173" y="1668066"/>
            <a:ext cx="832247" cy="13751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单元测试脚本，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3550444" y="1668066"/>
            <a:ext cx="2030276" cy="3203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支持一键回归测试，保障代码迭代过程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3550444" y="1850929"/>
            <a:ext cx="1943100" cy="3203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中的系统稳定性。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172200" y="1116211"/>
            <a:ext cx="2400300" cy="1285875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794" y="1362670"/>
            <a:ext cx="142875" cy="14287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65106" y="1330523"/>
            <a:ext cx="714375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安全性验证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350794" y="1644848"/>
            <a:ext cx="2043113" cy="5485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验证密码哈希存储、Session 过期机制及角色权限越权访问控制，提升系统整体安全性。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571500" y="3116461"/>
            <a:ext cx="8001000" cy="2482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 团队协作与里程碑管理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1617445" y="3579019"/>
            <a:ext cx="575072" cy="157163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22" name="Text 16"/>
          <p:cNvSpPr/>
          <p:nvPr/>
        </p:nvSpPr>
        <p:spPr>
          <a:xfrm>
            <a:off x="1617445" y="3579019"/>
            <a:ext cx="575072" cy="157163"/>
          </a:xfrm>
          <a:prstGeom prst="rect">
            <a:avLst/>
          </a:prstGeom>
          <a:noFill/>
        </p:spPr>
        <p:txBody>
          <a:bodyPr wrap="none" lIns="127508" tIns="42545" rIns="127508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v1-plan</a:t>
            </a:r>
            <a:endParaRPr lang="en-US" sz="700" dirty="0"/>
          </a:p>
        </p:txBody>
      </p:sp>
      <p:sp>
        <p:nvSpPr>
          <p:cNvPr id="23" name="Text 17"/>
          <p:cNvSpPr/>
          <p:nvPr/>
        </p:nvSpPr>
        <p:spPr>
          <a:xfrm>
            <a:off x="1190606" y="3843338"/>
            <a:ext cx="142875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需求分析与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项目初始化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4215678" y="3579019"/>
            <a:ext cx="712589" cy="157163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25" name="Text 19"/>
          <p:cNvSpPr/>
          <p:nvPr/>
        </p:nvSpPr>
        <p:spPr>
          <a:xfrm>
            <a:off x="4215678" y="3579019"/>
            <a:ext cx="712589" cy="157163"/>
          </a:xfrm>
          <a:prstGeom prst="rect">
            <a:avLst/>
          </a:prstGeom>
          <a:noFill/>
        </p:spPr>
        <p:txBody>
          <a:bodyPr wrap="none" lIns="127508" tIns="42545" rIns="127508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v2-design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3857597" y="3843338"/>
            <a:ext cx="142875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数据库建模与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架构搭建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938925" y="3579019"/>
            <a:ext cx="600075" cy="157163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28" name="Text 22"/>
          <p:cNvSpPr/>
          <p:nvPr/>
        </p:nvSpPr>
        <p:spPr>
          <a:xfrm>
            <a:off x="6938925" y="3579019"/>
            <a:ext cx="600075" cy="157163"/>
          </a:xfrm>
          <a:prstGeom prst="rect">
            <a:avLst/>
          </a:prstGeom>
          <a:noFill/>
        </p:spPr>
        <p:txBody>
          <a:bodyPr wrap="none" lIns="127508" tIns="42545" rIns="127508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v3-final</a:t>
            </a:r>
            <a:endParaRPr lang="en-US" sz="700" dirty="0"/>
          </a:p>
        </p:txBody>
      </p:sp>
      <p:sp>
        <p:nvSpPr>
          <p:cNvPr id="29" name="Text 23"/>
          <p:cNvSpPr/>
          <p:nvPr/>
        </p:nvSpPr>
        <p:spPr>
          <a:xfrm>
            <a:off x="6524588" y="3843338"/>
            <a:ext cx="142875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功能完善与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结项交付</a:t>
            </a:r>
            <a:endParaRPr lang="en-US" sz="8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0123" y="4489847"/>
            <a:ext cx="114300" cy="1143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2524423" y="4479131"/>
            <a:ext cx="4209455" cy="13751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规范：小步提交 (Small Commits)，清晰的 Commit Message，严格的分支管理。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30398"/>
          </a:xfrm>
          <a:prstGeom prst="rect">
            <a:avLst/>
          </a:prstGeom>
          <a:noFill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项目总结与收获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571500" y="1330523"/>
            <a:ext cx="2476509" cy="3222836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19219" y="1616273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381" y="1773436"/>
            <a:ext cx="257175" cy="2571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85813" y="2402086"/>
            <a:ext cx="2038341" cy="2482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全闭环系统交付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85813" y="2828925"/>
            <a:ext cx="2038341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成功实现从需求分析到测试上线的完整开发流程。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85813" y="3398974"/>
            <a:ext cx="2038341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掌握了 Flask + MySQL 的全栈 Web 开发核心技术。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813" y="3969023"/>
            <a:ext cx="2038341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构建了具备实际应用价值的学生成绩管理平台。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24216" y="1330523"/>
            <a:ext cx="2481253" cy="3222836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79106" y="1616273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122" y="1773436"/>
            <a:ext cx="321469" cy="2571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43300" y="2402086"/>
            <a:ext cx="2043113" cy="2482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团队协作与规范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543300" y="2828925"/>
            <a:ext cx="2043113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深入实践 Git 工作流，掌握了分支管理与冲突解决。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3543300" y="3398974"/>
            <a:ext cx="2043113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建立了标准化的项目文档体系，提升了沟通效率。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3543300" y="3969023"/>
            <a:ext cx="2043113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强化了分工明确、高效协同的团队开发意识。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086475" y="1330523"/>
            <a:ext cx="2486025" cy="3222836"/>
          </a:xfrm>
          <a:prstGeom prst="rect">
            <a:avLst/>
          </a:prstGeom>
          <a:solidFill>
            <a:srgbClr val="FFFFFF"/>
          </a:solidFill>
          <a:ln w="9144">
            <a:solidFill>
              <a:srgbClr val="E2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48509" y="1616273"/>
            <a:ext cx="571500" cy="571500"/>
          </a:xfrm>
          <a:prstGeom prst="ellipse">
            <a:avLst/>
          </a:prstGeom>
          <a:solidFill>
            <a:srgbClr val="EFF6FF"/>
          </a:solidFill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819" y="1773436"/>
            <a:ext cx="192881" cy="25717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10331" y="2402086"/>
            <a:ext cx="2047884" cy="2482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问题解决与反思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6310331" y="2828925"/>
            <a:ext cx="2047884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攻克了数据库模型对接、网络代理等技术瓶颈。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6310331" y="3398974"/>
            <a:ext cx="2047884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学会了通过自动化测试保障代码质量与稳定性。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6310331" y="3969023"/>
            <a:ext cx="2047884" cy="4628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反思了初期规划的重要性，提升了项目管理能力。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813" y="1322487"/>
            <a:ext cx="714375" cy="571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044898" y="2245816"/>
            <a:ext cx="5054203" cy="6625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E293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Q&amp;A / 谢谢观看</a:t>
            </a:r>
            <a:endParaRPr lang="en-US" sz="3300" dirty="0"/>
          </a:p>
        </p:txBody>
      </p:sp>
      <p:sp>
        <p:nvSpPr>
          <p:cNvPr id="5" name="Text 1"/>
          <p:cNvSpPr/>
          <p:nvPr/>
        </p:nvSpPr>
        <p:spPr>
          <a:xfrm>
            <a:off x="2044898" y="3051274"/>
            <a:ext cx="5054203" cy="3303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请各位老师批评指正</a:t>
            </a:r>
            <a:endParaRPr lang="en-US" sz="17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898" y="3985320"/>
            <a:ext cx="178594" cy="14287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2294930" y="3953173"/>
            <a:ext cx="3170039" cy="20716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答辩人：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lengye241、utyyy-yyytu、chenghlixue</a:t>
            </a:r>
            <a:endParaRPr lang="en-US" sz="10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719" y="3985320"/>
            <a:ext cx="125016" cy="142875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947172" y="3953173"/>
            <a:ext cx="1151930" cy="2071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3415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日期：</a:t>
            </a: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2026年5月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MEDIACOVER_FLAG" val="1"/>
  <p:tag name="KSO_WM_UNIT_MEDIACOVER_BTN_STATE" val="1"/>
  <p:tag name="KSO_WM_UNIT_MEDIACOVER_BTNRECT" val="0*0*0*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1791</Words>
  <Application>WPS 演示</Application>
  <PresentationFormat>On-screen Show (16:9)</PresentationFormat>
  <Paragraphs>198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30" baseType="lpstr">
      <vt:lpstr>Arial</vt:lpstr>
      <vt:lpstr>宋体</vt:lpstr>
      <vt:lpstr>Wingdings</vt:lpstr>
      <vt:lpstr>Inter Bold</vt:lpstr>
      <vt:lpstr>Segoe Print</vt:lpstr>
      <vt:lpstr>Inter Bold</vt:lpstr>
      <vt:lpstr>Inter Bold</vt:lpstr>
      <vt:lpstr>Inter</vt:lpstr>
      <vt:lpstr>Inter</vt:lpstr>
      <vt:lpstr>Inter</vt:lpstr>
      <vt:lpstr>monospace</vt:lpstr>
      <vt:lpstr>monospace</vt:lpstr>
      <vt:lpstr>monospace</vt:lpstr>
      <vt:lpstr>Calibri</vt:lpstr>
      <vt:lpstr>微软雅黑</vt:lpstr>
      <vt:lpstr>Arial Unicode MS</vt:lpstr>
      <vt:lpstr>等线</vt:lpstr>
      <vt:lpstr>MingLiU-ExtB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胡峻源</cp:lastModifiedBy>
  <cp:revision>2</cp:revision>
  <dcterms:created xsi:type="dcterms:W3CDTF">2026-05-19T11:20:00Z</dcterms:created>
  <dcterms:modified xsi:type="dcterms:W3CDTF">2026-05-19T11:26:55Z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A5B0A750BFC44BB7A0F30E71372DAE32_12</vt:lpwstr>
  </property>
  <property fmtid="{D5CDD505-2E9C-101B-9397-08002B2CF9AE}" pid="3" name="KSOProductBuildVer">
    <vt:lpwstr>2052-12.1.0.20305</vt:lpwstr>
  </property>
</Properties>
</file>